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56" r:id="rId2"/>
    <p:sldId id="497" r:id="rId3"/>
    <p:sldId id="499" r:id="rId4"/>
    <p:sldId id="500" r:id="rId5"/>
    <p:sldId id="501" r:id="rId6"/>
    <p:sldId id="503" r:id="rId7"/>
    <p:sldId id="504" r:id="rId8"/>
    <p:sldId id="507" r:id="rId9"/>
    <p:sldId id="502" r:id="rId10"/>
    <p:sldId id="505" r:id="rId11"/>
    <p:sldId id="506" r:id="rId12"/>
    <p:sldId id="269" r:id="rId13"/>
  </p:sldIdLst>
  <p:sldSz cx="9144000" cy="6858000" type="screen4x3"/>
  <p:notesSz cx="6761163" cy="99425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6CB4"/>
    <a:srgbClr val="0060AA"/>
    <a:srgbClr val="0066B3"/>
    <a:srgbClr val="E31E24"/>
    <a:srgbClr val="E8303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6437" autoAdjust="0"/>
    <p:restoredTop sz="94660"/>
  </p:normalViewPr>
  <p:slideViewPr>
    <p:cSldViewPr>
      <p:cViewPr varScale="1">
        <p:scale>
          <a:sx n="65" d="100"/>
          <a:sy n="65" d="100"/>
        </p:scale>
        <p:origin x="1092" y="7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29837" cy="49885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29761" y="0"/>
            <a:ext cx="2929837" cy="49885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2668431-CD35-4516-818D-B41B2C4843CF}" type="datetimeFigureOut">
              <a:rPr lang="en-IN" smtClean="0"/>
              <a:t>02-03-2026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4588" y="1243013"/>
            <a:ext cx="4471987" cy="33559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43662"/>
            <a:ext cx="2929837" cy="49885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29761" y="9443662"/>
            <a:ext cx="2929837" cy="49885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AB949B3-C4AB-4FB2-8B24-B07A558BD59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765345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Courses replaced with New Programmes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B949B3-C4AB-4FB2-8B24-B07A558BD59F}" type="slidenum">
              <a:rPr lang="en-IN" smtClean="0"/>
              <a:t>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356005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Courses replaced with New Programmes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B949B3-C4AB-4FB2-8B24-B07A558BD59F}" type="slidenum">
              <a:rPr lang="en-IN" smtClean="0"/>
              <a:t>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4669667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Courses replaced with New Programmes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B949B3-C4AB-4FB2-8B24-B07A558BD59F}" type="slidenum">
              <a:rPr lang="en-IN" smtClean="0"/>
              <a:t>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5046811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Courses replaced with New Programmes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B949B3-C4AB-4FB2-8B24-B07A558BD59F}" type="slidenum">
              <a:rPr lang="en-IN" smtClean="0"/>
              <a:t>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6089312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Courses replaced with New Programmes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B949B3-C4AB-4FB2-8B24-B07A558BD59F}" type="slidenum">
              <a:rPr lang="en-IN" smtClean="0"/>
              <a:t>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6964010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Courses replaced with New Programmes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B949B3-C4AB-4FB2-8B24-B07A558BD59F}" type="slidenum">
              <a:rPr lang="en-IN" smtClean="0"/>
              <a:t>7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3605045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EA6B61-674B-0ABF-F5C3-A72BF2845D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2FBED0-DE41-A040-921A-D95B51852C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B3F754-664A-ECDE-8199-65800D9763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Courses replaced with New Programmes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AF3E54-5ADF-52CC-11B5-B7F7837DEE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B949B3-C4AB-4FB2-8B24-B07A558BD59F}" type="slidenum">
              <a:rPr lang="en-IN" smtClean="0"/>
              <a:t>8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7712963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Courses replaced with New Programmes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B949B3-C4AB-4FB2-8B24-B07A558BD59F}" type="slidenum">
              <a:rPr lang="en-IN" smtClean="0"/>
              <a:t>9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2375441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Courses replaced with New Programmes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B949B3-C4AB-4FB2-8B24-B07A558BD59F}" type="slidenum">
              <a:rPr lang="en-IN" smtClean="0"/>
              <a:t>10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7154644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Courses replaced with New Programmes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B949B3-C4AB-4FB2-8B24-B07A558BD59F}" type="slidenum">
              <a:rPr lang="en-IN" smtClean="0"/>
              <a:t>11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83691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A89A1-F17A-4D3D-AC08-D16056C16514}" type="datetimeFigureOut">
              <a:rPr lang="en-IN" smtClean="0"/>
              <a:t>02-03-2026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1C46D-3F04-4F73-BF36-E6D9DA5AE14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716174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A89A1-F17A-4D3D-AC08-D16056C16514}" type="datetimeFigureOut">
              <a:rPr lang="en-IN" smtClean="0"/>
              <a:t>02-03-2026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1C46D-3F04-4F73-BF36-E6D9DA5AE14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711951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A89A1-F17A-4D3D-AC08-D16056C16514}" type="datetimeFigureOut">
              <a:rPr lang="en-IN" smtClean="0"/>
              <a:t>02-03-2026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1C46D-3F04-4F73-BF36-E6D9DA5AE14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507170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A89A1-F17A-4D3D-AC08-D16056C16514}" type="datetimeFigureOut">
              <a:rPr lang="en-IN" smtClean="0"/>
              <a:t>02-03-2026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1C46D-3F04-4F73-BF36-E6D9DA5AE14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911858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A89A1-F17A-4D3D-AC08-D16056C16514}" type="datetimeFigureOut">
              <a:rPr lang="en-IN" smtClean="0"/>
              <a:t>02-03-2026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1C46D-3F04-4F73-BF36-E6D9DA5AE14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613015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A89A1-F17A-4D3D-AC08-D16056C16514}" type="datetimeFigureOut">
              <a:rPr lang="en-IN" smtClean="0"/>
              <a:t>02-03-2026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1C46D-3F04-4F73-BF36-E6D9DA5AE14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852406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A89A1-F17A-4D3D-AC08-D16056C16514}" type="datetimeFigureOut">
              <a:rPr lang="en-IN" smtClean="0"/>
              <a:t>02-03-2026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1C46D-3F04-4F73-BF36-E6D9DA5AE14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517875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A89A1-F17A-4D3D-AC08-D16056C16514}" type="datetimeFigureOut">
              <a:rPr lang="en-IN" smtClean="0"/>
              <a:t>02-03-2026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1C46D-3F04-4F73-BF36-E6D9DA5AE14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296799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A89A1-F17A-4D3D-AC08-D16056C16514}" type="datetimeFigureOut">
              <a:rPr lang="en-IN" smtClean="0"/>
              <a:t>02-03-2026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1C46D-3F04-4F73-BF36-E6D9DA5AE14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868460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A89A1-F17A-4D3D-AC08-D16056C16514}" type="datetimeFigureOut">
              <a:rPr lang="en-IN" smtClean="0"/>
              <a:t>02-03-2026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1C46D-3F04-4F73-BF36-E6D9DA5AE14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27557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A89A1-F17A-4D3D-AC08-D16056C16514}" type="datetimeFigureOut">
              <a:rPr lang="en-IN" smtClean="0"/>
              <a:t>02-03-2026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1C46D-3F04-4F73-BF36-E6D9DA5AE14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953898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4AA89A1-F17A-4D3D-AC08-D16056C16514}" type="datetimeFigureOut">
              <a:rPr lang="en-IN" smtClean="0"/>
              <a:t>02-03-2026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421C46D-3F04-4F73-BF36-E6D9DA5AE14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687599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PPT Admission Drive 2021-22-final-2_Page_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0383"/>
          </a:xfrm>
          <a:prstGeom prst="rect">
            <a:avLst/>
          </a:prstGeom>
        </p:spPr>
      </p:pic>
    </p:spTree>
  </p:cSld>
  <p:clrMapOvr>
    <a:masterClrMapping/>
  </p:clrMapOvr>
  <p:transition>
    <p:wip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4260" y="-27384"/>
            <a:ext cx="9180512" cy="6885384"/>
          </a:xfrm>
        </p:spPr>
      </p:pic>
      <p:cxnSp>
        <p:nvCxnSpPr>
          <p:cNvPr id="11" name="Straight Connector 10"/>
          <p:cNvCxnSpPr/>
          <p:nvPr/>
        </p:nvCxnSpPr>
        <p:spPr>
          <a:xfrm>
            <a:off x="1520415" y="2060848"/>
            <a:ext cx="630654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70382" y="150274"/>
            <a:ext cx="6396065" cy="92087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36440" y="2219553"/>
            <a:ext cx="87849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buSzPct val="25000"/>
            </a:pPr>
            <a:r>
              <a:rPr lang="en-IN" sz="2400" dirty="0">
                <a:solidFill>
                  <a:srgbClr val="0070C0"/>
                </a:solidFill>
              </a:rPr>
              <a:t>Mid-Term Project Progress Presentation</a:t>
            </a:r>
            <a:endParaRPr lang="en-IN" sz="2400" b="1" dirty="0">
              <a:solidFill>
                <a:srgbClr val="0070C0"/>
              </a:solidFill>
              <a:ea typeface="Cambria" panose="02040503050406030204" pitchFamily="18" charset="0"/>
              <a:cs typeface="Times New Roman" panose="02020603050405020304" pitchFamily="18" charset="0"/>
              <a:sym typeface="Arial"/>
            </a:endParaRPr>
          </a:p>
        </p:txBody>
      </p:sp>
      <p:graphicFrame>
        <p:nvGraphicFramePr>
          <p:cNvPr id="2" name="Table 2">
            <a:extLst>
              <a:ext uri="{FF2B5EF4-FFF2-40B4-BE49-F238E27FC236}">
                <a16:creationId xmlns:a16="http://schemas.microsoft.com/office/drawing/2014/main" id="{232DFD41-0025-28B4-FE3B-A54FAEE28F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17805339"/>
              </p:ext>
            </p:extLst>
          </p:nvPr>
        </p:nvGraphicFramePr>
        <p:xfrm>
          <a:off x="1696134" y="3086002"/>
          <a:ext cx="6096000" cy="212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3537270469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330502494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ROLL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NAME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58983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2401720003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Sidharth Krishna 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761018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2401720012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Ankit Kumar Yadav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82063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2401720013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Diwakar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19495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2401840007</a:t>
                      </a:r>
                    </a:p>
                    <a:p>
                      <a:r>
                        <a:rPr lang="en-US" dirty="0"/>
                        <a:t>2401720001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Palak Kashyap </a:t>
                      </a:r>
                    </a:p>
                    <a:p>
                      <a:r>
                        <a:rPr lang="en-US" dirty="0" err="1"/>
                        <a:t>Devasya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43375068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3DF18845-4075-32C5-8F4A-4F40F86E837F}"/>
              </a:ext>
            </a:extLst>
          </p:cNvPr>
          <p:cNvSpPr txBox="1"/>
          <p:nvPr/>
        </p:nvSpPr>
        <p:spPr>
          <a:xfrm>
            <a:off x="755576" y="1212054"/>
            <a:ext cx="756084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buSzPct val="25000"/>
            </a:pPr>
            <a:r>
              <a:rPr lang="en-US" sz="4000" b="1" dirty="0">
                <a:solidFill>
                  <a:srgbClr val="C00000"/>
                </a:solidFill>
                <a:ea typeface="Cambria" panose="02040503050406030204" pitchFamily="18" charset="0"/>
                <a:cs typeface="Times New Roman" panose="02020603050405020304" pitchFamily="18" charset="0"/>
                <a:sym typeface="Arial"/>
              </a:rPr>
              <a:t>Distributed-Rate-Limiter System</a:t>
            </a:r>
            <a:endParaRPr lang="en-IN" sz="4000" b="1" dirty="0">
              <a:solidFill>
                <a:srgbClr val="C00000"/>
              </a:solidFill>
              <a:ea typeface="Cambria" panose="02040503050406030204" pitchFamily="18" charset="0"/>
              <a:cs typeface="Times New Roman" panose="02020603050405020304" pitchFamily="18" charset="0"/>
              <a:sym typeface="Arial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0D4C745-33B7-0116-E20F-11A7F0DFD46F}"/>
              </a:ext>
            </a:extLst>
          </p:cNvPr>
          <p:cNvSpPr txBox="1"/>
          <p:nvPr/>
        </p:nvSpPr>
        <p:spPr>
          <a:xfrm>
            <a:off x="276398" y="5849055"/>
            <a:ext cx="858403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SzPct val="25000"/>
            </a:pPr>
            <a:r>
              <a:rPr lang="en-IN" b="1" dirty="0">
                <a:solidFill>
                  <a:srgbClr val="006CB4"/>
                </a:solidFill>
                <a:ea typeface="Cambria" panose="02040503050406030204" pitchFamily="18" charset="0"/>
                <a:cs typeface="Times New Roman" panose="02020603050405020304" pitchFamily="18" charset="0"/>
                <a:sym typeface="Arial"/>
              </a:rPr>
              <a:t>Faculty Mentor:</a:t>
            </a:r>
            <a:r>
              <a:rPr lang="en-IN" sz="1800" b="1" dirty="0">
                <a:solidFill>
                  <a:srgbClr val="006CB4"/>
                </a:solidFill>
                <a:ea typeface="Cambria" panose="02040503050406030204" pitchFamily="18" charset="0"/>
                <a:cs typeface="Times New Roman" panose="02020603050405020304" pitchFamily="18" charset="0"/>
                <a:sym typeface="Arial"/>
              </a:rPr>
              <a:t>  </a:t>
            </a:r>
            <a:r>
              <a:rPr lang="en-IN" dirty="0">
                <a:solidFill>
                  <a:srgbClr val="006CB4"/>
                </a:solidFill>
              </a:rPr>
              <a:t>Dr. Ravinder Beniwal</a:t>
            </a:r>
          </a:p>
        </p:txBody>
      </p:sp>
    </p:spTree>
    <p:extLst>
      <p:ext uri="{BB962C8B-B14F-4D97-AF65-F5344CB8AC3E}">
        <p14:creationId xmlns:p14="http://schemas.microsoft.com/office/powerpoint/2010/main" val="41425364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9180512" cy="6885384"/>
          </a:xfrm>
        </p:spPr>
      </p:pic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179512" y="151593"/>
            <a:ext cx="4153701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>
              <a:buSzPct val="25000"/>
            </a:pPr>
            <a:r>
              <a:rPr lang="en-US" sz="3200" b="1" kern="100" dirty="0">
                <a:effectLst/>
                <a:latin typeface="Verdana" panose="020B060403050404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Project Overview</a:t>
            </a:r>
            <a:endParaRPr lang="en-IN" sz="3200" b="1" dirty="0">
              <a:solidFill>
                <a:srgbClr val="E31E24"/>
              </a:solidFill>
              <a:cs typeface="Times New Roman" panose="02020603050405020304" pitchFamily="18" charset="0"/>
              <a:sym typeface="Arial"/>
            </a:endParaRPr>
          </a:p>
        </p:txBody>
      </p:sp>
      <p:cxnSp>
        <p:nvCxnSpPr>
          <p:cNvPr id="7" name="Straight Connector 6"/>
          <p:cNvCxnSpPr/>
          <p:nvPr/>
        </p:nvCxnSpPr>
        <p:spPr>
          <a:xfrm>
            <a:off x="0" y="1061448"/>
            <a:ext cx="9180513" cy="0"/>
          </a:xfrm>
          <a:prstGeom prst="line">
            <a:avLst/>
          </a:prstGeom>
          <a:ln w="25400">
            <a:solidFill>
              <a:srgbClr val="0060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8" y="6309320"/>
            <a:ext cx="2411760" cy="34669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E24D516-77C6-C96A-5F77-D099623448D8}"/>
              </a:ext>
            </a:extLst>
          </p:cNvPr>
          <p:cNvSpPr txBox="1"/>
          <p:nvPr/>
        </p:nvSpPr>
        <p:spPr>
          <a:xfrm>
            <a:off x="179512" y="1293834"/>
            <a:ext cx="8784976" cy="3727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just" fontAlgn="base">
              <a:lnSpc>
                <a:spcPct val="107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800" kern="100" dirty="0">
                <a:solidFill>
                  <a:srgbClr val="000000"/>
                </a:solidFill>
                <a:effectLst/>
                <a:latin typeface="Verdana" panose="020B060403050404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lang="en-US" sz="2800" kern="100" dirty="0">
              <a:effectLst/>
              <a:latin typeface="+mj-lt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C89CD11-CE10-037A-E324-4CC1A00D0E72}"/>
              </a:ext>
            </a:extLst>
          </p:cNvPr>
          <p:cNvSpPr txBox="1"/>
          <p:nvPr/>
        </p:nvSpPr>
        <p:spPr>
          <a:xfrm>
            <a:off x="345670" y="1579160"/>
            <a:ext cx="8452659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project focuses on developing a Distributed Rate Limiter System to control and manage API request traffic.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It prevents system overload by limiting requests within a defined time window.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Spring Boot is used for backend API development and rate limiting logic implementation.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Redis enables distributed request tracking and high-performance caching.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Monitoring is implemented using Prometheus and Grafana for real-time system metrics.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 React.js frontend is used for interaction and testing purposes.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537842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9180512" cy="6885384"/>
          </a:xfrm>
        </p:spPr>
      </p:pic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179512" y="151593"/>
            <a:ext cx="6260047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>
              <a:buSzPct val="25000"/>
            </a:pPr>
            <a:r>
              <a:rPr lang="en-IN" sz="3200" b="1" dirty="0">
                <a:latin typeface="Verdana" panose="020B0604030504040204" pitchFamily="34" charset="0"/>
                <a:ea typeface="Verdana" panose="020B0604030504040204" pitchFamily="34" charset="0"/>
              </a:rPr>
              <a:t>Project</a:t>
            </a:r>
            <a:r>
              <a:rPr lang="en-IN" sz="3200" b="1" dirty="0"/>
              <a:t> </a:t>
            </a:r>
            <a:r>
              <a:rPr lang="en-IN" sz="3200" b="1" dirty="0">
                <a:latin typeface="Verdana" panose="020B0604030504040204" pitchFamily="34" charset="0"/>
                <a:ea typeface="Verdana" panose="020B0604030504040204" pitchFamily="34" charset="0"/>
              </a:rPr>
              <a:t>Progress</a:t>
            </a:r>
            <a:r>
              <a:rPr lang="en-IN" sz="3200" b="1" dirty="0"/>
              <a:t> </a:t>
            </a:r>
            <a:r>
              <a:rPr lang="en-IN" sz="3200" b="1" dirty="0">
                <a:latin typeface="Verdana" panose="020B0604030504040204" pitchFamily="34" charset="0"/>
                <a:ea typeface="Verdana" panose="020B0604030504040204" pitchFamily="34" charset="0"/>
              </a:rPr>
              <a:t>Summary</a:t>
            </a:r>
            <a:endParaRPr lang="en-IN" sz="3200" b="1" dirty="0">
              <a:solidFill>
                <a:srgbClr val="E31E24"/>
              </a:solidFill>
              <a:latin typeface="Verdana" panose="020B0604030504040204" pitchFamily="34" charset="0"/>
              <a:ea typeface="Verdana" panose="020B0604030504040204" pitchFamily="34" charset="0"/>
              <a:cs typeface="Times New Roman" panose="02020603050405020304" pitchFamily="18" charset="0"/>
              <a:sym typeface="Arial"/>
            </a:endParaRPr>
          </a:p>
        </p:txBody>
      </p:sp>
      <p:cxnSp>
        <p:nvCxnSpPr>
          <p:cNvPr id="7" name="Straight Connector 6"/>
          <p:cNvCxnSpPr/>
          <p:nvPr/>
        </p:nvCxnSpPr>
        <p:spPr>
          <a:xfrm>
            <a:off x="0" y="1061448"/>
            <a:ext cx="9180513" cy="0"/>
          </a:xfrm>
          <a:prstGeom prst="line">
            <a:avLst/>
          </a:prstGeom>
          <a:ln w="25400">
            <a:solidFill>
              <a:srgbClr val="0060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8" y="6309320"/>
            <a:ext cx="2411760" cy="34669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E24D516-77C6-C96A-5F77-D099623448D8}"/>
              </a:ext>
            </a:extLst>
          </p:cNvPr>
          <p:cNvSpPr txBox="1"/>
          <p:nvPr/>
        </p:nvSpPr>
        <p:spPr>
          <a:xfrm>
            <a:off x="179512" y="1293834"/>
            <a:ext cx="8784976" cy="3727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just" fontAlgn="base">
              <a:lnSpc>
                <a:spcPct val="107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800" kern="100" dirty="0">
                <a:solidFill>
                  <a:srgbClr val="000000"/>
                </a:solidFill>
                <a:effectLst/>
                <a:latin typeface="Verdana" panose="020B060403050404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lang="en-US" sz="2800" kern="100" dirty="0">
              <a:effectLst/>
              <a:latin typeface="+mj-lt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D939DB9-8452-FDDC-7E8F-221C36C2B4CF}"/>
              </a:ext>
            </a:extLst>
          </p:cNvPr>
          <p:cNvSpPr txBox="1"/>
          <p:nvPr/>
        </p:nvSpPr>
        <p:spPr>
          <a:xfrm>
            <a:off x="359532" y="1666628"/>
            <a:ext cx="8460940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Implemented User Authentication for secure user access.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Developed functionality to create and manage API Keys.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Successfully integrated PostgreSQL for database management.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Connected Prometheus and Grafana for monitoring and performance metrics. </a:t>
            </a:r>
            <a:br>
              <a:rPr lang="en-US" dirty="0"/>
            </a:b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Almost completed the User Interface development using React.js for system interaction and testing.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473292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9180512" cy="6885384"/>
          </a:xfrm>
        </p:spPr>
      </p:pic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179512" y="151592"/>
            <a:ext cx="7920880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>
              <a:buSzPct val="25000"/>
            </a:pPr>
            <a:r>
              <a:rPr lang="en-IN" sz="3200" b="1" dirty="0">
                <a:latin typeface="Verdana" panose="020B0604030504040204" pitchFamily="34" charset="0"/>
                <a:ea typeface="Verdana" panose="020B0604030504040204" pitchFamily="34" charset="0"/>
              </a:rPr>
              <a:t>Challenges Faced and Solutions</a:t>
            </a:r>
            <a:endParaRPr lang="en-IN" sz="3200" b="1" dirty="0">
              <a:solidFill>
                <a:srgbClr val="E31E24"/>
              </a:solidFill>
              <a:latin typeface="Verdana" panose="020B0604030504040204" pitchFamily="34" charset="0"/>
              <a:ea typeface="Verdana" panose="020B0604030504040204" pitchFamily="34" charset="0"/>
              <a:cs typeface="Times New Roman" panose="02020603050405020304" pitchFamily="18" charset="0"/>
              <a:sym typeface="Arial"/>
            </a:endParaRPr>
          </a:p>
        </p:txBody>
      </p:sp>
      <p:cxnSp>
        <p:nvCxnSpPr>
          <p:cNvPr id="7" name="Straight Connector 6"/>
          <p:cNvCxnSpPr/>
          <p:nvPr/>
        </p:nvCxnSpPr>
        <p:spPr>
          <a:xfrm>
            <a:off x="0" y="1061448"/>
            <a:ext cx="9180513" cy="0"/>
          </a:xfrm>
          <a:prstGeom prst="line">
            <a:avLst/>
          </a:prstGeom>
          <a:ln w="25400">
            <a:solidFill>
              <a:srgbClr val="0060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8" y="6309320"/>
            <a:ext cx="2411760" cy="34669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E24D516-77C6-C96A-5F77-D099623448D8}"/>
              </a:ext>
            </a:extLst>
          </p:cNvPr>
          <p:cNvSpPr txBox="1"/>
          <p:nvPr/>
        </p:nvSpPr>
        <p:spPr>
          <a:xfrm>
            <a:off x="179512" y="1293834"/>
            <a:ext cx="8784976" cy="3727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just" fontAlgn="base">
              <a:lnSpc>
                <a:spcPct val="107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800" kern="100" dirty="0">
                <a:solidFill>
                  <a:srgbClr val="000000"/>
                </a:solidFill>
                <a:effectLst/>
                <a:latin typeface="Verdana" panose="020B060403050404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lang="en-US" sz="2800" kern="100" dirty="0">
              <a:effectLst/>
              <a:latin typeface="+mj-lt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B4B5F7C-B886-F13B-EAAF-20F31CB585C8}"/>
              </a:ext>
            </a:extLst>
          </p:cNvPr>
          <p:cNvSpPr txBox="1"/>
          <p:nvPr/>
        </p:nvSpPr>
        <p:spPr>
          <a:xfrm>
            <a:off x="32965" y="1666628"/>
            <a:ext cx="8784975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Designing a scalable distributed architecture → Addressed by following a modular system structure separating backend, caching, and monitoring components.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Implementing secure user authentication → Resolved using proper validation mechanisms and secure access control practices.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Managing secure API Key generation → Ensured uniqueness and reliability through database constraints and structured validation logic.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Setting up Prometheus and Grafana monitoring → Achieved by exposing application metrics correctly and creating dashboards for real-time system monitoring.</a:t>
            </a:r>
            <a:br>
              <a:rPr lang="en-US" dirty="0"/>
            </a:b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Integrating Redis for distributed request tracking → Solved using optimized key expiration and atomic operations.</a:t>
            </a:r>
          </a:p>
          <a:p>
            <a:endParaRPr lang="en-US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574231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9180512" cy="6885384"/>
          </a:xfrm>
        </p:spPr>
      </p:pic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177133" y="346645"/>
            <a:ext cx="8280920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>
              <a:buSzPct val="25000"/>
            </a:pPr>
            <a:r>
              <a:rPr lang="en-IN" sz="3200" b="1" dirty="0">
                <a:latin typeface="Verdana" panose="020B0604030504040204" pitchFamily="34" charset="0"/>
                <a:ea typeface="Verdana" panose="020B0604030504040204" pitchFamily="34" charset="0"/>
              </a:rPr>
              <a:t>Technology Stack</a:t>
            </a:r>
            <a:endParaRPr lang="en-IN" sz="3200" b="1" dirty="0">
              <a:solidFill>
                <a:srgbClr val="E31E24"/>
              </a:solidFill>
              <a:latin typeface="Verdana" panose="020B0604030504040204" pitchFamily="34" charset="0"/>
              <a:ea typeface="Verdana" panose="020B0604030504040204" pitchFamily="34" charset="0"/>
              <a:cs typeface="Times New Roman" panose="02020603050405020304" pitchFamily="18" charset="0"/>
              <a:sym typeface="Arial"/>
            </a:endParaRPr>
          </a:p>
        </p:txBody>
      </p:sp>
      <p:cxnSp>
        <p:nvCxnSpPr>
          <p:cNvPr id="7" name="Straight Connector 6"/>
          <p:cNvCxnSpPr/>
          <p:nvPr/>
        </p:nvCxnSpPr>
        <p:spPr>
          <a:xfrm>
            <a:off x="0" y="1061448"/>
            <a:ext cx="9180513" cy="0"/>
          </a:xfrm>
          <a:prstGeom prst="line">
            <a:avLst/>
          </a:prstGeom>
          <a:ln w="25400">
            <a:solidFill>
              <a:srgbClr val="0060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8" y="6309320"/>
            <a:ext cx="2411760" cy="34669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E24D516-77C6-C96A-5F77-D099623448D8}"/>
              </a:ext>
            </a:extLst>
          </p:cNvPr>
          <p:cNvSpPr txBox="1"/>
          <p:nvPr/>
        </p:nvSpPr>
        <p:spPr>
          <a:xfrm>
            <a:off x="179512" y="1293834"/>
            <a:ext cx="8784976" cy="3727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just" fontAlgn="base">
              <a:lnSpc>
                <a:spcPct val="107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800" kern="100" dirty="0">
                <a:solidFill>
                  <a:srgbClr val="000000"/>
                </a:solidFill>
                <a:effectLst/>
                <a:latin typeface="Verdana" panose="020B060403050404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lang="en-US" sz="2800" kern="100" dirty="0">
              <a:effectLst/>
              <a:latin typeface="+mj-lt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7181C4B-558C-7494-2C10-DA04B4C0AC4F}"/>
              </a:ext>
            </a:extLst>
          </p:cNvPr>
          <p:cNvSpPr txBox="1"/>
          <p:nvPr/>
        </p:nvSpPr>
        <p:spPr>
          <a:xfrm>
            <a:off x="395536" y="1899013"/>
            <a:ext cx="8352928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1" dirty="0"/>
              <a:t>Frontend:</a:t>
            </a:r>
            <a:r>
              <a:rPr lang="en-IN" dirty="0"/>
              <a:t> HTML, CSS, Bootstrap, React.js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1" dirty="0"/>
              <a:t>Backend:</a:t>
            </a:r>
            <a:r>
              <a:rPr lang="en-IN" dirty="0"/>
              <a:t> Java Spring Boot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1" dirty="0"/>
              <a:t>Database:</a:t>
            </a:r>
            <a:r>
              <a:rPr lang="en-IN" dirty="0"/>
              <a:t> PostgreSQL (Primary Database), Redis (Caching)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1" dirty="0"/>
              <a:t>Monitoring &amp; Metrics:</a:t>
            </a:r>
            <a:r>
              <a:rPr lang="en-IN" dirty="0"/>
              <a:t> Prometheus, Grafana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1" dirty="0"/>
              <a:t>API Testing:</a:t>
            </a:r>
            <a:r>
              <a:rPr lang="en-IN" dirty="0"/>
              <a:t> Postman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933716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6512" y="-27384"/>
            <a:ext cx="9180512" cy="6885384"/>
          </a:xfrm>
        </p:spPr>
      </p:pic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103414" y="52751"/>
            <a:ext cx="7420913" cy="10772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>
              <a:buSzPct val="25000"/>
            </a:pPr>
            <a:r>
              <a:rPr lang="en-IN" sz="3200" b="1" dirty="0">
                <a:latin typeface="Verdana" panose="020B0604030504040204" pitchFamily="34" charset="0"/>
                <a:ea typeface="Verdana" panose="020B0604030504040204" pitchFamily="34" charset="0"/>
              </a:rPr>
              <a:t>Coding Practices &amp; Version Control</a:t>
            </a:r>
            <a:endParaRPr lang="en-IN" sz="3200" b="1" dirty="0">
              <a:solidFill>
                <a:srgbClr val="E31E24"/>
              </a:solidFill>
              <a:latin typeface="Verdana" panose="020B0604030504040204" pitchFamily="34" charset="0"/>
              <a:ea typeface="Verdana" panose="020B0604030504040204" pitchFamily="34" charset="0"/>
              <a:cs typeface="Times New Roman" panose="02020603050405020304" pitchFamily="18" charset="0"/>
              <a:sym typeface="Arial"/>
            </a:endParaRPr>
          </a:p>
        </p:txBody>
      </p:sp>
      <p:cxnSp>
        <p:nvCxnSpPr>
          <p:cNvPr id="7" name="Straight Connector 6"/>
          <p:cNvCxnSpPr/>
          <p:nvPr/>
        </p:nvCxnSpPr>
        <p:spPr>
          <a:xfrm>
            <a:off x="0" y="1061448"/>
            <a:ext cx="9180513" cy="0"/>
          </a:xfrm>
          <a:prstGeom prst="line">
            <a:avLst/>
          </a:prstGeom>
          <a:ln w="25400">
            <a:solidFill>
              <a:srgbClr val="0060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8" y="6309320"/>
            <a:ext cx="2411760" cy="34669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E24D516-77C6-C96A-5F77-D099623448D8}"/>
              </a:ext>
            </a:extLst>
          </p:cNvPr>
          <p:cNvSpPr txBox="1"/>
          <p:nvPr/>
        </p:nvSpPr>
        <p:spPr>
          <a:xfrm>
            <a:off x="179512" y="1293834"/>
            <a:ext cx="8784976" cy="3727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just" fontAlgn="base">
              <a:lnSpc>
                <a:spcPct val="107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800" kern="100" dirty="0">
                <a:solidFill>
                  <a:srgbClr val="000000"/>
                </a:solidFill>
                <a:effectLst/>
                <a:latin typeface="Verdana" panose="020B060403050404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lang="en-US" sz="2800" kern="100" dirty="0">
              <a:effectLst/>
              <a:latin typeface="+mj-lt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67A919E-7DB1-E6B8-D950-8901A88C816D}"/>
              </a:ext>
            </a:extLst>
          </p:cNvPr>
          <p:cNvSpPr txBox="1"/>
          <p:nvPr/>
        </p:nvSpPr>
        <p:spPr>
          <a:xfrm>
            <a:off x="611560" y="1700225"/>
            <a:ext cx="7344816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Followed a modular architecture separating authentication, rate limiting, and monitoring components. 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Maintained clear frontend (React.js) and backend (Spring Boot) separation. </a:t>
            </a:r>
            <a:br>
              <a:rPr lang="en-US" dirty="0"/>
            </a:b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Implemented clean coding practices with consistent naming and reusable components. </a:t>
            </a:r>
            <a:br>
              <a:rPr lang="en-US" dirty="0"/>
            </a:b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Used Git for version control with regular commits and feature-based branching.</a:t>
            </a:r>
            <a:endParaRPr lang="en-US" i="0" dirty="0">
              <a:solidFill>
                <a:srgbClr val="374151"/>
              </a:solidFill>
              <a:effectLst/>
              <a:latin typeface="Söhne"/>
            </a:endParaRPr>
          </a:p>
        </p:txBody>
      </p:sp>
    </p:spTree>
    <p:extLst>
      <p:ext uri="{BB962C8B-B14F-4D97-AF65-F5344CB8AC3E}">
        <p14:creationId xmlns:p14="http://schemas.microsoft.com/office/powerpoint/2010/main" val="34490688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BD42DB-FF71-D8E6-630F-399C60C536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52FB631E-E469-C80D-C58A-99E545F3785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6512" y="0"/>
            <a:ext cx="9180512" cy="6885384"/>
          </a:xfrm>
        </p:spPr>
      </p:pic>
      <p:sp>
        <p:nvSpPr>
          <p:cNvPr id="5" name="Rectangle 1">
            <a:extLst>
              <a:ext uri="{FF2B5EF4-FFF2-40B4-BE49-F238E27FC236}">
                <a16:creationId xmlns:a16="http://schemas.microsoft.com/office/drawing/2014/main" id="{3B6D9598-AD90-B9CA-8610-998CE22F1C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414" y="298973"/>
            <a:ext cx="8429026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>
              <a:buSzPct val="25000"/>
            </a:pPr>
            <a:r>
              <a:rPr lang="en-IN" sz="3200" b="1" dirty="0">
                <a:latin typeface="Verdana" panose="020B0604030504040204" pitchFamily="34" charset="0"/>
                <a:ea typeface="Verdana" panose="020B0604030504040204" pitchFamily="34" charset="0"/>
              </a:rPr>
              <a:t>Remaining Development Roadmap</a:t>
            </a:r>
            <a:endParaRPr lang="en-IN" sz="3200" b="1" dirty="0">
              <a:solidFill>
                <a:srgbClr val="E31E24"/>
              </a:solidFill>
              <a:latin typeface="Verdana" panose="020B0604030504040204" pitchFamily="34" charset="0"/>
              <a:ea typeface="Verdana" panose="020B0604030504040204" pitchFamily="34" charset="0"/>
              <a:cs typeface="Times New Roman" panose="02020603050405020304" pitchFamily="18" charset="0"/>
              <a:sym typeface="Arial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362D34C-9176-DD2A-8AAF-507BD46BD710}"/>
              </a:ext>
            </a:extLst>
          </p:cNvPr>
          <p:cNvCxnSpPr/>
          <p:nvPr/>
        </p:nvCxnSpPr>
        <p:spPr>
          <a:xfrm>
            <a:off x="0" y="1061448"/>
            <a:ext cx="9180513" cy="0"/>
          </a:xfrm>
          <a:prstGeom prst="line">
            <a:avLst/>
          </a:prstGeom>
          <a:ln w="25400">
            <a:solidFill>
              <a:srgbClr val="0060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>
            <a:extLst>
              <a:ext uri="{FF2B5EF4-FFF2-40B4-BE49-F238E27FC236}">
                <a16:creationId xmlns:a16="http://schemas.microsoft.com/office/drawing/2014/main" id="{4066F8A4-300F-9AE0-4A5E-2A2D19A8A54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8" y="6309320"/>
            <a:ext cx="2411760" cy="34669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166FAC4-E627-209B-D9A4-20EC84D69C44}"/>
              </a:ext>
            </a:extLst>
          </p:cNvPr>
          <p:cNvSpPr txBox="1"/>
          <p:nvPr/>
        </p:nvSpPr>
        <p:spPr>
          <a:xfrm>
            <a:off x="179512" y="1293834"/>
            <a:ext cx="8784976" cy="3727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just" fontAlgn="base">
              <a:lnSpc>
                <a:spcPct val="107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800" kern="100" dirty="0">
                <a:solidFill>
                  <a:srgbClr val="000000"/>
                </a:solidFill>
                <a:effectLst/>
                <a:latin typeface="Verdana" panose="020B060403050404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lang="en-US" sz="2800" kern="100" dirty="0">
              <a:effectLst/>
              <a:latin typeface="+mj-lt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3" name="Picture 2" descr="A diagram of a software development">
            <a:extLst>
              <a:ext uri="{FF2B5EF4-FFF2-40B4-BE49-F238E27FC236}">
                <a16:creationId xmlns:a16="http://schemas.microsoft.com/office/drawing/2014/main" id="{3B9CF815-C760-75BD-B2E2-338E3835774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512" y="1182721"/>
            <a:ext cx="8784976" cy="4948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95082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9180512" cy="6885384"/>
          </a:xfrm>
        </p:spPr>
      </p:pic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-17338" y="-7884"/>
            <a:ext cx="9161338" cy="10772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>
              <a:buSzPct val="25000"/>
            </a:pPr>
            <a:r>
              <a:rPr lang="en-US" sz="3200" b="1" dirty="0">
                <a:latin typeface="Verdana" panose="020B0604030504040204" pitchFamily="34" charset="0"/>
                <a:ea typeface="Verdana" panose="020B0604030504040204" pitchFamily="34" charset="0"/>
              </a:rPr>
              <a:t>Planned Roadmap for Remaining Development</a:t>
            </a:r>
            <a:endParaRPr lang="en-IN" sz="3200" b="1" dirty="0">
              <a:solidFill>
                <a:srgbClr val="E31E24"/>
              </a:solidFill>
              <a:latin typeface="Verdana" panose="020B0604030504040204" pitchFamily="34" charset="0"/>
              <a:ea typeface="Verdana" panose="020B0604030504040204" pitchFamily="34" charset="0"/>
              <a:cs typeface="Times New Roman" panose="02020603050405020304" pitchFamily="18" charset="0"/>
              <a:sym typeface="Arial"/>
            </a:endParaRPr>
          </a:p>
        </p:txBody>
      </p:sp>
      <p:cxnSp>
        <p:nvCxnSpPr>
          <p:cNvPr id="7" name="Straight Connector 6"/>
          <p:cNvCxnSpPr/>
          <p:nvPr/>
        </p:nvCxnSpPr>
        <p:spPr>
          <a:xfrm>
            <a:off x="0" y="1061448"/>
            <a:ext cx="9180513" cy="0"/>
          </a:xfrm>
          <a:prstGeom prst="line">
            <a:avLst/>
          </a:prstGeom>
          <a:ln w="25400">
            <a:solidFill>
              <a:srgbClr val="0060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8" y="6309320"/>
            <a:ext cx="2411760" cy="34669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E24D516-77C6-C96A-5F77-D099623448D8}"/>
              </a:ext>
            </a:extLst>
          </p:cNvPr>
          <p:cNvSpPr txBox="1"/>
          <p:nvPr/>
        </p:nvSpPr>
        <p:spPr>
          <a:xfrm>
            <a:off x="197768" y="1527254"/>
            <a:ext cx="8784976" cy="3727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just" fontAlgn="base">
              <a:lnSpc>
                <a:spcPct val="107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800" kern="100" dirty="0">
                <a:solidFill>
                  <a:srgbClr val="000000"/>
                </a:solidFill>
                <a:effectLst/>
                <a:latin typeface="Verdana" panose="020B060403050404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lang="en-US" sz="2800" kern="100" dirty="0">
              <a:effectLst/>
              <a:latin typeface="+mj-lt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E9A3DB5-595A-BDA2-AC2F-0CADE50C4548}"/>
              </a:ext>
            </a:extLst>
          </p:cNvPr>
          <p:cNvSpPr txBox="1"/>
          <p:nvPr/>
        </p:nvSpPr>
        <p:spPr>
          <a:xfrm>
            <a:off x="341784" y="1831855"/>
            <a:ext cx="8496944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Completion of remaining core rate limiting logic and advanced configurations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Enhancement of UI dashboards for better clarity in API key usage and rate limit statistics.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Full implementation of distributed request handling and concurrency optimization.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Performance optimization of Redis operations and database queries.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Thorough testing under high traffic scenarios to validate rate limiting accuracy.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958122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47" y="0"/>
            <a:ext cx="9180512" cy="6885384"/>
          </a:xfrm>
        </p:spPr>
      </p:pic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103414" y="298972"/>
            <a:ext cx="6844849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>
              <a:buSzPct val="25000"/>
            </a:pPr>
            <a:r>
              <a:rPr lang="en-IN" sz="3200" b="1" dirty="0">
                <a:latin typeface="Verdana" panose="020B0604030504040204" pitchFamily="34" charset="0"/>
                <a:ea typeface="Verdana" panose="020B0604030504040204" pitchFamily="34" charset="0"/>
              </a:rPr>
              <a:t>Expected Results &amp; Impact</a:t>
            </a:r>
            <a:endParaRPr lang="en-IN" sz="3200" b="1" dirty="0">
              <a:solidFill>
                <a:srgbClr val="E31E24"/>
              </a:solidFill>
              <a:latin typeface="Verdana" panose="020B0604030504040204" pitchFamily="34" charset="0"/>
              <a:ea typeface="Verdana" panose="020B0604030504040204" pitchFamily="34" charset="0"/>
              <a:cs typeface="Times New Roman" panose="02020603050405020304" pitchFamily="18" charset="0"/>
              <a:sym typeface="Arial"/>
            </a:endParaRPr>
          </a:p>
        </p:txBody>
      </p:sp>
      <p:cxnSp>
        <p:nvCxnSpPr>
          <p:cNvPr id="7" name="Straight Connector 6"/>
          <p:cNvCxnSpPr/>
          <p:nvPr/>
        </p:nvCxnSpPr>
        <p:spPr>
          <a:xfrm>
            <a:off x="0" y="1061448"/>
            <a:ext cx="9180513" cy="0"/>
          </a:xfrm>
          <a:prstGeom prst="line">
            <a:avLst/>
          </a:prstGeom>
          <a:ln w="25400">
            <a:solidFill>
              <a:srgbClr val="0060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8" y="6309320"/>
            <a:ext cx="2411760" cy="34669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E24D516-77C6-C96A-5F77-D099623448D8}"/>
              </a:ext>
            </a:extLst>
          </p:cNvPr>
          <p:cNvSpPr txBox="1"/>
          <p:nvPr/>
        </p:nvSpPr>
        <p:spPr>
          <a:xfrm>
            <a:off x="179512" y="1293834"/>
            <a:ext cx="8784976" cy="3727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just" fontAlgn="base">
              <a:lnSpc>
                <a:spcPct val="107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800" kern="100" dirty="0">
                <a:solidFill>
                  <a:srgbClr val="000000"/>
                </a:solidFill>
                <a:effectLst/>
                <a:latin typeface="Verdana" panose="020B060403050404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lang="en-US" sz="2800" kern="100" dirty="0">
              <a:effectLst/>
              <a:latin typeface="+mj-lt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59AC123-1FF4-759B-44D8-95C077A7D7D5}"/>
              </a:ext>
            </a:extLst>
          </p:cNvPr>
          <p:cNvSpPr txBox="1"/>
          <p:nvPr/>
        </p:nvSpPr>
        <p:spPr>
          <a:xfrm>
            <a:off x="286882" y="1824167"/>
            <a:ext cx="8606747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final system will provide an efficient Distributed Rate Limiter to control and manage API traffic.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b="0" i="0" dirty="0">
              <a:solidFill>
                <a:srgbClr val="374151"/>
              </a:solidFill>
              <a:effectLst/>
              <a:latin typeface="Söhne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Users and services will experience stable and reliable API performance under high request loads.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b="0" i="0" dirty="0">
              <a:solidFill>
                <a:srgbClr val="374151"/>
              </a:solidFill>
              <a:effectLst/>
              <a:latin typeface="Söhne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Secure authentication and API key management will ensure controlled and authorized access.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i="0" dirty="0">
              <a:solidFill>
                <a:srgbClr val="374151"/>
              </a:solidFill>
              <a:effectLst/>
              <a:latin typeface="Söhne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Redis caching will reduce response time and improve request handling performance.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i="0" dirty="0">
              <a:solidFill>
                <a:srgbClr val="374151"/>
              </a:solidFill>
              <a:effectLst/>
              <a:latin typeface="Söhne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Prometheus and Grafana monitoring will provide real-time system insights and reliability tracking.</a:t>
            </a:r>
            <a:endParaRPr lang="en-US" i="0" dirty="0">
              <a:solidFill>
                <a:srgbClr val="374151"/>
              </a:solidFill>
              <a:effectLst/>
              <a:latin typeface="Söhne"/>
            </a:endParaRPr>
          </a:p>
        </p:txBody>
      </p:sp>
    </p:spTree>
    <p:extLst>
      <p:ext uri="{BB962C8B-B14F-4D97-AF65-F5344CB8AC3E}">
        <p14:creationId xmlns:p14="http://schemas.microsoft.com/office/powerpoint/2010/main" val="10998783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9180512" cy="6885384"/>
          </a:xfrm>
        </p:spPr>
      </p:pic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103414" y="298973"/>
            <a:ext cx="6844849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>
              <a:buSzPct val="25000"/>
            </a:pPr>
            <a:r>
              <a:rPr lang="en-IN" sz="3200" b="1" dirty="0">
                <a:latin typeface="Verdana" panose="020B0604030504040204" pitchFamily="34" charset="0"/>
                <a:ea typeface="Verdana" panose="020B0604030504040204" pitchFamily="34" charset="0"/>
              </a:rPr>
              <a:t>Learning Outcomes So Far</a:t>
            </a:r>
            <a:endParaRPr lang="en-IN" sz="3200" b="1" dirty="0">
              <a:solidFill>
                <a:srgbClr val="E31E24"/>
              </a:solidFill>
              <a:latin typeface="Verdana" panose="020B0604030504040204" pitchFamily="34" charset="0"/>
              <a:ea typeface="Verdana" panose="020B0604030504040204" pitchFamily="34" charset="0"/>
              <a:cs typeface="Times New Roman" panose="02020603050405020304" pitchFamily="18" charset="0"/>
              <a:sym typeface="Arial"/>
            </a:endParaRPr>
          </a:p>
        </p:txBody>
      </p:sp>
      <p:cxnSp>
        <p:nvCxnSpPr>
          <p:cNvPr id="7" name="Straight Connector 6"/>
          <p:cNvCxnSpPr/>
          <p:nvPr/>
        </p:nvCxnSpPr>
        <p:spPr>
          <a:xfrm>
            <a:off x="0" y="1061448"/>
            <a:ext cx="9180513" cy="0"/>
          </a:xfrm>
          <a:prstGeom prst="line">
            <a:avLst/>
          </a:prstGeom>
          <a:ln w="25400">
            <a:solidFill>
              <a:srgbClr val="0060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8" y="6309320"/>
            <a:ext cx="2411760" cy="34669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E24D516-77C6-C96A-5F77-D099623448D8}"/>
              </a:ext>
            </a:extLst>
          </p:cNvPr>
          <p:cNvSpPr txBox="1"/>
          <p:nvPr/>
        </p:nvSpPr>
        <p:spPr>
          <a:xfrm>
            <a:off x="103414" y="1686863"/>
            <a:ext cx="8964487" cy="39319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 fontAlgn="base">
              <a:lnSpc>
                <a:spcPct val="107000"/>
              </a:lnSpc>
              <a:buFont typeface="Arial" panose="020B0604020202020204" pitchFamily="34" charset="0"/>
              <a:buChar char="•"/>
            </a:pPr>
            <a:r>
              <a:rPr lang="en-US" dirty="0"/>
              <a:t>Gained practical experience in developing a distributed full-stack system using React.js and Spring Boot.</a:t>
            </a:r>
          </a:p>
          <a:p>
            <a:pPr marL="285750" indent="-285750" algn="just" fontAlgn="base">
              <a:lnSpc>
                <a:spcPct val="107000"/>
              </a:lnSpc>
              <a:buFont typeface="Arial" panose="020B0604020202020204" pitchFamily="34" charset="0"/>
              <a:buChar char="•"/>
            </a:pPr>
            <a:endParaRPr lang="en-US" kern="100" dirty="0">
              <a:effectLst/>
              <a:latin typeface="+mj-lt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285750" indent="-285750" algn="just" fontAlgn="base">
              <a:lnSpc>
                <a:spcPct val="107000"/>
              </a:lnSpc>
              <a:buFont typeface="Arial" panose="020B0604020202020204" pitchFamily="34" charset="0"/>
              <a:buChar char="•"/>
            </a:pPr>
            <a:r>
              <a:rPr lang="en-US" dirty="0"/>
              <a:t>Improved understanding of API security, authentication, and API key management.</a:t>
            </a:r>
          </a:p>
          <a:p>
            <a:pPr marL="285750" indent="-285750" algn="just" fontAlgn="base">
              <a:lnSpc>
                <a:spcPct val="107000"/>
              </a:lnSpc>
              <a:buFont typeface="Arial" panose="020B0604020202020204" pitchFamily="34" charset="0"/>
              <a:buChar char="•"/>
            </a:pPr>
            <a:endParaRPr lang="en-US" kern="100" dirty="0">
              <a:effectLst/>
              <a:latin typeface="+mj-lt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285750" indent="-285750" algn="just" fontAlgn="base">
              <a:lnSpc>
                <a:spcPct val="107000"/>
              </a:lnSpc>
              <a:buFont typeface="Arial" panose="020B0604020202020204" pitchFamily="34" charset="0"/>
              <a:buChar char="•"/>
            </a:pPr>
            <a:r>
              <a:rPr lang="en-US" dirty="0"/>
              <a:t>Learned efficient database handling with PostgreSQL and performance optimization using Redis caching.</a:t>
            </a:r>
          </a:p>
          <a:p>
            <a:pPr marL="285750" indent="-285750" algn="just" fontAlgn="base">
              <a:lnSpc>
                <a:spcPct val="107000"/>
              </a:lnSpc>
              <a:buFont typeface="Arial" panose="020B0604020202020204" pitchFamily="34" charset="0"/>
              <a:buChar char="•"/>
            </a:pPr>
            <a:endParaRPr lang="en-US" kern="100" dirty="0">
              <a:effectLst/>
              <a:latin typeface="+mj-lt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285750" indent="-285750" algn="just" fontAlgn="base">
              <a:lnSpc>
                <a:spcPct val="107000"/>
              </a:lnSpc>
              <a:buFont typeface="Arial" panose="020B0604020202020204" pitchFamily="34" charset="0"/>
              <a:buChar char="•"/>
            </a:pPr>
            <a:r>
              <a:rPr lang="en-US" dirty="0"/>
              <a:t>Developed knowledge of distributed rate limiting concepts and system scalability.</a:t>
            </a:r>
          </a:p>
          <a:p>
            <a:pPr marL="285750" indent="-285750" algn="just" fontAlgn="base">
              <a:lnSpc>
                <a:spcPct val="107000"/>
              </a:lnSpc>
              <a:buFont typeface="Arial" panose="020B0604020202020204" pitchFamily="34" charset="0"/>
              <a:buChar char="•"/>
            </a:pPr>
            <a:endParaRPr lang="en-US" kern="100" dirty="0">
              <a:effectLst/>
              <a:latin typeface="+mj-lt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285750" indent="-285750" algn="just" fontAlgn="base">
              <a:lnSpc>
                <a:spcPct val="107000"/>
              </a:lnSpc>
              <a:buFont typeface="Arial" panose="020B0604020202020204" pitchFamily="34" charset="0"/>
              <a:buChar char="•"/>
            </a:pPr>
            <a:r>
              <a:rPr lang="en-US" dirty="0"/>
              <a:t>Strengthened version control and collaborative development practices using Git.</a:t>
            </a:r>
          </a:p>
          <a:p>
            <a:pPr marL="285750" indent="-285750" algn="just" fontAlgn="base">
              <a:lnSpc>
                <a:spcPct val="107000"/>
              </a:lnSpc>
              <a:buFont typeface="Arial" panose="020B0604020202020204" pitchFamily="34" charset="0"/>
              <a:buChar char="•"/>
            </a:pPr>
            <a:endParaRPr lang="en-US" kern="100" dirty="0">
              <a:effectLst/>
              <a:latin typeface="+mj-lt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285750" indent="-285750" algn="just" fontAlgn="base">
              <a:lnSpc>
                <a:spcPct val="107000"/>
              </a:lnSpc>
              <a:buFont typeface="Arial" panose="020B0604020202020204" pitchFamily="34" charset="0"/>
              <a:buChar char="•"/>
            </a:pPr>
            <a:r>
              <a:rPr lang="en-US" dirty="0"/>
              <a:t>Enhanced debugging, testing, and API validation skills through Postman and system testing.</a:t>
            </a:r>
            <a:endParaRPr lang="en-US" kern="100" dirty="0">
              <a:effectLst/>
              <a:latin typeface="+mj-lt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62604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80512" cy="6858000"/>
          </a:xfr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8" y="6309320"/>
            <a:ext cx="2411760" cy="346691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1835696" y="2708920"/>
            <a:ext cx="565103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7200" dirty="0">
                <a:solidFill>
                  <a:srgbClr val="0060AA"/>
                </a:solidFill>
                <a:latin typeface="Garamond" pitchFamily="18" charset="0"/>
              </a:rPr>
              <a:t>THANK</a:t>
            </a:r>
            <a:r>
              <a:rPr lang="en-US" sz="7200" dirty="0">
                <a:latin typeface="Garamond" pitchFamily="18" charset="0"/>
              </a:rPr>
              <a:t> </a:t>
            </a:r>
            <a:r>
              <a:rPr lang="en-US" sz="7200" dirty="0">
                <a:solidFill>
                  <a:srgbClr val="E31E24"/>
                </a:solidFill>
                <a:latin typeface="Garamond" pitchFamily="18" charset="0"/>
              </a:rPr>
              <a:t>YOU</a:t>
            </a:r>
            <a:endParaRPr lang="en-IN" sz="7200" dirty="0">
              <a:latin typeface="Garamond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581981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6163</TotalTime>
  <Words>665</Words>
  <Application>Microsoft Office PowerPoint</Application>
  <PresentationFormat>On-screen Show (4:3)</PresentationFormat>
  <Paragraphs>124</Paragraphs>
  <Slides>12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20" baseType="lpstr">
      <vt:lpstr>Arial</vt:lpstr>
      <vt:lpstr>Calibri</vt:lpstr>
      <vt:lpstr>Cambria</vt:lpstr>
      <vt:lpstr>Garamond</vt:lpstr>
      <vt:lpstr>Söhne</vt:lpstr>
      <vt:lpstr>Times New Roman</vt:lpstr>
      <vt:lpstr>Verdana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WEBDEV</dc:creator>
  <cp:lastModifiedBy>SIDHARTH KRISHNA S 2401720003</cp:lastModifiedBy>
  <cp:revision>316</cp:revision>
  <cp:lastPrinted>2022-09-05T08:43:44Z</cp:lastPrinted>
  <dcterms:created xsi:type="dcterms:W3CDTF">2020-01-16T09:05:56Z</dcterms:created>
  <dcterms:modified xsi:type="dcterms:W3CDTF">2026-03-02T10:51:17Z</dcterms:modified>
</cp:coreProperties>
</file>